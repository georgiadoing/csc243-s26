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B"/>
    <a:srgbClr val="FDFFF5"/>
    <a:srgbClr val="FFFFFE"/>
    <a:srgbClr val="9BC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589"/>
    <p:restoredTop autoAdjust="0" sz="94694"/>
  </p:normalViewPr>
  <p:slideViewPr>
    <p:cSldViewPr snapToGrid="0" snapToObjects="1">
      <p:cViewPr varScale="1">
        <p:scale>
          <a:sx d="100" n="169"/>
          <a:sy d="100" n="169"/>
        </p:scale>
        <p:origin x="184" y="24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43049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01383"/>
            <a:ext cx="4038600" cy="2893239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01383"/>
            <a:ext cx="4038600" cy="289324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73620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61148"/>
            <a:ext cx="4040188" cy="253347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73620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61146"/>
            <a:ext cx="4041775" cy="253347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764498"/>
            <a:ext cx="3008313" cy="364292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738859"/>
            <a:ext cx="5111750" cy="285576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8859"/>
            <a:ext cx="3008313" cy="2855764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543049"/>
            <a:ext cx="5486400" cy="2002631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461541"/>
            <a:ext cx="2057400" cy="3133082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61541"/>
            <a:ext cx="6019800" cy="31330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charset="0" panose="02000503020000020003" pitchFamily="2" typeface="Avenir Book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dirty="0" lang="en-US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7C9D60D8-FE13-7A5F-1388-423409997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56413"/>
            <a:ext cx="8229600" cy="293821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charset="0" panose="02000503020000020003" pitchFamily="2" typeface="Avenir Book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charset="0" panose="02000503020000020003" pitchFamily="2" typeface="Avenir Book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charset="0" panose="02000503020000020003" pitchFamily="2" typeface="Avenir Book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charset="0" panose="02000503020000020003" pitchFamily="2" typeface="Avenir Book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charset="0" panose="02000503020000020003" pitchFamily="2" typeface="Avenir Book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charset="0" panose="02000503020000020003" pitchFamily="2" typeface="Avenir Book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ourworldindata.org/grapher/number-of-entries-in-biological-sequence-databases" TargetMode="Externa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ternationalgenome.org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cdc.gov/ecoli/about/index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43049"/>
            <a:ext cx="7772400" cy="1102519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CSC 483 - Applied Biological Data Sciece W3D1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CSC 483: Applied Biological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Warm up: (15’)</a:t>
            </a:r>
          </a:p>
          <a:p>
            <a:pPr lvl="0"/>
            <a:r>
              <a:rPr/>
              <a:t>Sequencing data (30’)</a:t>
            </a:r>
          </a:p>
          <a:p>
            <a:pPr lvl="1"/>
            <a:r>
              <a:rPr/>
              <a:t>Gene seqeuence interpretation</a:t>
            </a:r>
          </a:p>
          <a:p>
            <a:pPr lvl="1"/>
            <a:r>
              <a:rPr/>
              <a:t>Gene content vs. expression</a:t>
            </a:r>
          </a:p>
          <a:p>
            <a:pPr lvl="1"/>
            <a:r>
              <a:rPr/>
              <a:t>Analysis goals: gene function, use</a:t>
            </a:r>
          </a:p>
          <a:p>
            <a:pPr lvl="0"/>
            <a:r>
              <a:rPr/>
              <a:t>Activity: metadata summaries (45’)</a:t>
            </a:r>
          </a:p>
          <a:p>
            <a:pPr lvl="0"/>
            <a:r>
              <a:rPr/>
              <a:t>Present results, brainstorm ideas (15’)</a:t>
            </a:r>
          </a:p>
          <a:p>
            <a:pPr lvl="0"/>
            <a:r>
              <a:rPr/>
              <a:t>HW:</a:t>
            </a:r>
          </a:p>
          <a:p>
            <a:pPr lvl="1"/>
            <a:r>
              <a:rPr/>
              <a:t>rosalind problems on sequence analysis (w/ colab notebooks?)</a:t>
            </a:r>
          </a:p>
          <a:p>
            <a:pPr lvl="1"/>
            <a:r>
              <a:rPr/>
              <a:t>pull request of e coli metadata analysis</a:t>
            </a:r>
          </a:p>
          <a:p>
            <a:pPr lvl="1"/>
            <a:r>
              <a:rPr/>
              <a:t>due: tues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764498"/>
            <a:ext cx="3008313" cy="364292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What is Biological Data?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SC483_Week3_A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882900"/>
            <a:ext cx="5105400" cy="53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Rooted in Chemistry</a:t>
            </a:r>
          </a:p>
        </p:txBody>
      </p:sp>
      <p:pic>
        <p:nvPicPr>
          <p:cNvPr descr="nucleot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651000"/>
            <a:ext cx="39497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Ends up being about information</a:t>
            </a:r>
          </a:p>
        </p:txBody>
      </p:sp>
      <p:pic>
        <p:nvPicPr>
          <p:cNvPr descr="Genetic-cod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68500" y="1651000"/>
            <a:ext cx="52070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What is a ‘gene’</a:t>
            </a:r>
          </a:p>
        </p:txBody>
      </p:sp>
      <p:pic>
        <p:nvPicPr>
          <p:cNvPr descr="central_do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51000"/>
            <a:ext cx="71628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Biological Data Accumulation</a:t>
            </a:r>
          </a:p>
        </p:txBody>
      </p:sp>
      <p:pic>
        <p:nvPicPr>
          <p:cNvPr descr="number-of-entries-in-biological-sequence-databa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651000"/>
            <a:ext cx="34417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Biological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https://ourworldindata.org/grapher/number-of-entries-in-biological-sequence-databases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Ethics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measured vs predicted data?</a:t>
            </a:r>
          </a:p>
          <a:p>
            <a:pPr lvl="0"/>
            <a:r>
              <a:rPr/>
              <a:t>references?</a:t>
            </a:r>
          </a:p>
          <a:p>
            <a:pPr lvl="0"/>
            <a:r>
              <a:rPr/>
              <a:t>funding sources?</a:t>
            </a:r>
          </a:p>
          <a:p>
            <a:pPr lvl="0"/>
            <a:r>
              <a:rPr/>
              <a:t>reproducibility?</a:t>
            </a:r>
          </a:p>
          <a:p>
            <a:pPr lvl="0"/>
            <a:r>
              <a:rPr/>
              <a:t>data types?</a:t>
            </a:r>
          </a:p>
          <a:p>
            <a:pPr lvl="0"/>
            <a:r>
              <a:rPr/>
              <a:t>cross population?</a:t>
            </a:r>
          </a:p>
          <a:p>
            <a:pPr lvl="0"/>
            <a:r>
              <a:rPr/>
              <a:t>intention of the data post? intention of the original data source?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Purpose of Collecting Biological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human data, studying health and disease, e.g. 1000s Genomes Project: </a:t>
            </a:r>
            <a:r>
              <a:rPr>
                <a:hlinkClick r:id="rId2"/>
              </a:rPr>
              <a:t>https://www.internationalgenome.org/</a:t>
            </a:r>
          </a:p>
          <a:p>
            <a:pPr lvl="1"/>
            <a:r>
              <a:rPr/>
              <a:t>detect disease-associated alleles</a:t>
            </a:r>
          </a:p>
          <a:p>
            <a:pPr lvl="1"/>
            <a:r>
              <a:rPr/>
              <a:t>check specific loci, spots</a:t>
            </a:r>
          </a:p>
          <a:p>
            <a:pPr lvl="1"/>
            <a:r>
              <a:rPr/>
              <a:t>RNAseq - does it cause disease</a:t>
            </a:r>
          </a:p>
          <a:p>
            <a:pPr lvl="1" indent="0" marL="342900">
              <a:buNone/>
            </a:pP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Purpose of Collecting Biological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non-human data (microbes, animals): who is there and what are they doing?</a:t>
            </a:r>
          </a:p>
          <a:p>
            <a:pPr lvl="1"/>
            <a:r>
              <a:rPr/>
              <a:t>whole genomes</a:t>
            </a:r>
          </a:p>
          <a:p>
            <a:pPr lvl="1"/>
            <a:r>
              <a:rPr/>
              <a:t>16S, ITS</a:t>
            </a:r>
          </a:p>
          <a:p>
            <a:pPr lvl="1"/>
            <a:r>
              <a:rPr/>
              <a:t>meta-genomes</a:t>
            </a:r>
          </a:p>
          <a:p>
            <a:pPr lvl="1"/>
            <a:r>
              <a:rPr/>
              <a:t>RNAseq - what are they doing</a:t>
            </a:r>
          </a:p>
          <a:p>
            <a:pPr lvl="1"/>
            <a:r>
              <a:rPr/>
              <a:t>meta-transcriptomics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Slides on gene expression and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always need comparisons</a:t>
            </a:r>
          </a:p>
          <a:p>
            <a:pPr lvl="0"/>
            <a:r>
              <a:rPr/>
              <a:t>treat cultures with drugs, etc.</a:t>
            </a:r>
          </a:p>
          <a:p>
            <a:pPr lvl="0"/>
            <a:r>
              <a:rPr/>
              <a:t>DNA: identifies subjects of interest</a:t>
            </a:r>
          </a:p>
          <a:p>
            <a:pPr lvl="0"/>
            <a:r>
              <a:rPr/>
              <a:t>RNA: describes activities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764498"/>
            <a:ext cx="3008313" cy="364292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Experimental Workflow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SC483_Week3_A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984500"/>
            <a:ext cx="5105400" cy="34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</a:p>
          <a:p>
            <a:pPr lvl="0"/>
            <a:r>
              <a:rPr/>
              <a:t>as data scientists, we start right after sequencing</a:t>
            </a:r>
          </a:p>
          <a:p>
            <a:pPr lvl="0"/>
            <a:r>
              <a:rPr/>
              <a:t>we still need to know what was done during samples collection and sequencing</a:t>
            </a:r>
          </a:p>
          <a:p>
            <a:pPr lvl="1"/>
            <a:r>
              <a:rPr/>
              <a:t>“metadata”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Biological Data Science workflow from seq to data to hypothesis testing</a:t>
            </a:r>
          </a:p>
          <a:p>
            <a:pPr lvl="0"/>
            <a:r>
              <a:rPr/>
              <a:t>Interdisciplinary scientific communication</a:t>
            </a:r>
          </a:p>
          <a:p>
            <a:pPr lvl="0"/>
            <a:r>
              <a:rPr/>
              <a:t>research projects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DNA sequencing, a molecular approach</a:t>
            </a:r>
          </a:p>
        </p:txBody>
      </p:sp>
      <p:pic>
        <p:nvPicPr>
          <p:cNvPr descr="next_gen_seq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66900" y="1651000"/>
            <a:ext cx="53975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dNTPs, gels (?)</a:t>
            </a:r>
          </a:p>
          <a:p>
            <a:pPr lvl="0"/>
            <a:r>
              <a:rPr/>
              <a:t>next generation machines, seqeuncing by synthesis, flouraphores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Seqeunce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fasta, nt sequence</a:t>
            </a:r>
          </a:p>
          <a:p>
            <a:pPr lvl="0"/>
            <a:r>
              <a:rPr/>
              <a:t>RBS</a:t>
            </a:r>
          </a:p>
          <a:p>
            <a:pPr lvl="0"/>
            <a:r>
              <a:rPr/>
              <a:t>codons, ORF, start/stop</a:t>
            </a:r>
          </a:p>
          <a:p>
            <a:pPr lvl="0"/>
            <a:r>
              <a:rPr/>
              <a:t>we can know genes are there without knowing what they do…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Sequence interpretation by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reference sequences, databases</a:t>
            </a:r>
          </a:p>
          <a:p>
            <a:pPr lvl="0"/>
            <a:r>
              <a:rPr/>
              <a:t>BLASTP</a:t>
            </a:r>
          </a:p>
          <a:p>
            <a:pPr lvl="0"/>
            <a:r>
              <a:rPr/>
              <a:t>BWA align</a:t>
            </a:r>
          </a:p>
          <a:p>
            <a:pPr lvl="0"/>
            <a:r>
              <a:rPr/>
              <a:t>homology</a:t>
            </a:r>
          </a:p>
          <a:p>
            <a:pPr lvl="0"/>
            <a:r>
              <a:rPr/>
              <a:t>function prediction, alphafold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Needleman-Wunsch Alg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(Global Linear Kernel)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(Match or Mismatch)</m:t>
                                </m:r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Y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X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example,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</m:t>
                      </m:r>
                      <m:r>
                        <m:t>m</m:t>
                      </m:r>
                      <m:r>
                        <m:t>a</m:t>
                      </m:r>
                      <m:r>
                        <m:t>t</m:t>
                      </m:r>
                      <m:r>
                        <m:t>c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t>m</m:t>
                      </m:r>
                      <m:r>
                        <m:t>i</m:t>
                      </m:r>
                      <m:r>
                        <m:t>s</m:t>
                      </m:r>
                      <m:r>
                        <m:t>m</m:t>
                      </m:r>
                      <m:r>
                        <m:t>a</m:t>
                      </m:r>
                      <m:r>
                        <m:t>t</m:t>
                      </m:r>
                      <m:r>
                        <m:t>c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Demo filled</a:t>
            </a:r>
          </a:p>
        </p:txBody>
      </p:sp>
      <p:pic>
        <p:nvPicPr>
          <p:cNvPr descr="NW_ex_fi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25800" y="1651000"/>
            <a:ext cx="2705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Intructions for the Needleman-Wunsch Alg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Given a mismatch scoring scheme </a:t>
                </a:r>
                <a14:m>
                  <m:oMath xmlns:m="http://schemas.openxmlformats.org/officeDocument/2006/math"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nucleotides and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is a gap penalty, the optimal aligmnet score of two nucleotide sequences Seq1 and Seq2, indexed by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respectively, is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(Match or Mismatch)</m:t>
                                </m:r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Y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X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example, setting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1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Match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Mismatch</m:t>
                              </m:r>
                            </m:e>
                          </m:mr>
                        </m:m>
                      </m:e>
                    </m:d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Then, fill each square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d>
                                  <m:dPr>
                                    <m:begChr m:val="{"/>
                                    <m:sepChr m:val=""/>
                                    <m:endChr m:val=""/>
                                    <m:grow/>
                                  </m:dPr>
                                  <m:e>
                                    <m:m>
                                      <m:mPr>
                                        <m:baseJc m:val="center"/>
                                        <m:plcHide m:val="on"/>
                                        <m:mcs>
                                          <m:mc>
                                            <m:mcPr>
                                              <m:mcJc m:val="left"/>
                                              <m:count m:val="1"/>
                                            </m:mcPr>
                                          </m:mc>
                                          <m:mc>
                                            <m:mcPr>
                                              <m:mcJc m:val="left"/>
                                              <m:count m:val="1"/>
                                            </m:mcPr>
                                          </m:mc>
                                        </m:mcs>
                                      </m:mPr>
                                      <m:mr>
                                        <m:e>
                                          <m:r>
                                            <m:t>S</m:t>
                                          </m:r>
                                          <m:d>
                                            <m:dPr>
                                              <m:begChr m:val="("/>
                                              <m:sepChr m:val=""/>
                                              <m:endChr m:val=")"/>
                                              <m:grow/>
                                            </m:dPr>
                                            <m:e>
                                              <m:r>
                                                <m:t>i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m:t>1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,</m:t>
                                              </m:r>
                                              <m:r>
                                                <m:t>j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m:t>1</m:t>
                                              </m:r>
                                            </m:e>
                                          </m:d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m:rPr>
                                              <m:nor/>
                                              <m:sty m:val="p"/>
                                            </m:rPr>
                                            <m:t>(Match)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m:t>S</m:t>
                                          </m:r>
                                          <m:d>
                                            <m:dPr>
                                              <m:begChr m:val="("/>
                                              <m:sepChr m:val=""/>
                                              <m:endChr m:val=")"/>
                                              <m:grow/>
                                            </m:dPr>
                                            <m:e>
                                              <m:r>
                                                <m:t>i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m:t>1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,</m:t>
                                              </m:r>
                                              <m:r>
                                                <m:t>j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m:t>1</m:t>
                                              </m:r>
                                            </m:e>
                                          </m:d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m:rPr>
                                              <m:nor/>
                                              <m:sty m:val="p"/>
                                            </m:rPr>
                                            <m:t>(Mismatch)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Y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t>S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(Gap in </m:t>
                                </m:r>
                                <m:r>
                                  <m:t>X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Starting in the upper left corner, initiate with 0, then, moving across columns and down rows, fill in each square with:</a:t>
                </a:r>
              </a:p>
              <a:p>
                <a:pPr lvl="1"/>
                <a:r>
                  <a:rPr/>
                  <a:t>the maximum value given the values at the previous indices</a:t>
                </a:r>
              </a:p>
              <a:p>
                <a:pPr lvl="1"/>
                <a:r>
                  <a:rPr/>
                  <a:t>the previous indices from which the value builds (diagonal, left or up arrows)</a:t>
                </a:r>
              </a:p>
              <a:p>
                <a:pPr lvl="0" indent="-342900" marL="342900">
                  <a:buAutoNum startAt="2" type="arabicPeriod"/>
                </a:pPr>
                <a:r>
                  <a:rPr/>
                  <a:t>Once all squares are filled, </a:t>
                </a:r>
                <a:r>
                  <a:rPr b="1"/>
                  <a:t>the bottom right corner has your best possible score</a:t>
                </a:r>
                <a:r>
                  <a:rPr/>
                  <a:t>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K-mer based sequence representation</a:t>
            </a:r>
          </a:p>
        </p:txBody>
      </p:sp>
      <p:pic>
        <p:nvPicPr>
          <p:cNvPr descr="k-m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25800" y="1651000"/>
            <a:ext cx="2705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K-mer based quantification</a:t>
            </a:r>
          </a:p>
        </p:txBody>
      </p:sp>
      <p:pic>
        <p:nvPicPr>
          <p:cNvPr descr="k-mer-dist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651000"/>
            <a:ext cx="3759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RNA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cDNA</a:t>
            </a:r>
          </a:p>
          <a:p>
            <a:pPr lvl="0"/>
            <a:r>
              <a:rPr/>
              <a:t>requires reference genomes</a:t>
            </a:r>
          </a:p>
          <a:p>
            <a:pPr lvl="0"/>
            <a:r>
              <a:rPr/>
              <a:t>espression levels</a:t>
            </a:r>
          </a:p>
          <a:p>
            <a:pPr lvl="0"/>
            <a:r>
              <a:rPr/>
              <a:t>count matrices</a:t>
            </a:r>
          </a:p>
          <a:p>
            <a:pPr lvl="0"/>
            <a:r>
              <a:rPr/>
              <a:t>does NOT require annotations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Analyisis workflows/goals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want to know what cells/organisms use which genes for</a:t>
            </a:r>
          </a:p>
          <a:p>
            <a:pPr lvl="0"/>
            <a:r>
              <a:rPr/>
              <a:t>what are gene functions?</a:t>
            </a:r>
          </a:p>
          <a:p>
            <a:pPr lvl="0"/>
            <a:r>
              <a:rPr/>
              <a:t>when/where are genes expressed? why?</a:t>
            </a:r>
          </a:p>
          <a:p>
            <a:pPr lvl="0"/>
            <a:r>
              <a:rPr/>
              <a:t>are there cause/effect relationships we can interfere with or engineer?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Project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given dataset of E coli gene expression</a:t>
            </a:r>
          </a:p>
          <a:p>
            <a:pPr lvl="0"/>
            <a:r>
              <a:rPr/>
              <a:t>what questions can be asked/answered?</a:t>
            </a:r>
          </a:p>
          <a:p>
            <a:pPr lvl="0"/>
            <a:r>
              <a:rPr/>
              <a:t>how can metadata be explored? summarized?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Lab machines: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Log on:</a:t>
            </a:r>
          </a:p>
          <a:p>
            <a:pPr lvl="1"/>
            <a:r>
              <a:rPr/>
              <a:t>Your Union usernames</a:t>
            </a:r>
          </a:p>
          <a:p>
            <a:pPr lvl="1"/>
            <a:r>
              <a:rPr/>
              <a:t>Default password: the word union followed by your ID number; e.g., union12345</a:t>
            </a:r>
          </a:p>
          <a:p>
            <a:pPr lvl="0" indent="0" marL="0">
              <a:buNone/>
            </a:pPr>
            <a:r>
              <a:rPr b="1"/>
              <a:t>Always log off before leaving the lab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Setting up folders &amp; google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 a folder for this course (e.g. names csc106).</a:t>
            </a:r>
          </a:p>
          <a:p>
            <a:pPr lvl="0"/>
            <a:r>
              <a:rPr/>
              <a:t>share it with me (doingg@union.edu)</a:t>
            </a:r>
          </a:p>
          <a:p>
            <a:pPr lvl="0"/>
            <a:r>
              <a:rPr/>
              <a:t>request a pro colab account using union email</a:t>
            </a:r>
          </a:p>
          <a:p>
            <a:pPr lvl="0"/>
            <a:r>
              <a:rPr/>
              <a:t>find e coli notebook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3297"/>
            <a:ext cx="8229600" cy="85725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Rosalind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genes as strings</a:t>
            </a:r>
          </a:p>
          <a:p>
            <a:pPr lvl="0"/>
            <a:r>
              <a:rPr/>
              <a:t>accounts</a:t>
            </a:r>
          </a:p>
          <a:p>
            <a:pPr lvl="0"/>
            <a:r>
              <a:rPr/>
              <a:t>colab notebooks</a:t>
            </a:r>
          </a:p>
          <a:p>
            <a:pPr lvl="0"/>
            <a:r>
              <a:rPr/>
              <a:t>pair up?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764498"/>
            <a:ext cx="3008313" cy="364292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Ecoli metadata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create colab notebook</a:t>
            </a:r>
          </a:p>
          <a:p>
            <a:pPr lvl="0"/>
            <a:r>
              <a:rPr/>
              <a:t>load E coli metadata</a:t>
            </a:r>
          </a:p>
          <a:p>
            <a:pPr lvl="0"/>
            <a:r>
              <a:rPr/>
              <a:t>plot a data characteristic accumulation over time</a:t>
            </a:r>
          </a:p>
          <a:p>
            <a:pPr lvl="0"/>
            <a:r>
              <a:rPr/>
              <a:t>how does it relate to ‘world in data’ graph?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 coli background</a:t>
            </a:r>
          </a:p>
        </p:txBody>
      </p:sp>
      <p:pic>
        <p:nvPicPr>
          <p:cNvPr descr="cdc_abxR_thre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653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strains, genes</a:t>
            </a:r>
          </a:p>
          <a:p>
            <a:pPr lvl="0"/>
            <a:r>
              <a:rPr/>
              <a:t>pathogenicity</a:t>
            </a:r>
          </a:p>
          <a:p>
            <a:pPr lvl="0"/>
            <a:r>
              <a:rPr/>
              <a:t>CDC </a:t>
            </a:r>
            <a:r>
              <a:rPr>
                <a:hlinkClick r:id="rId2"/>
              </a:rPr>
              <a:t>https://www.cdc.gov/ecoli/about/index.html</a:t>
            </a:r>
          </a:p>
          <a:p>
            <a:pPr lvl="1"/>
            <a:r>
              <a:rPr/>
              <a:t>click to “types”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</a:t>
            </a:r>
          </a:p>
          <a:p>
            <a:pPr lvl="0"/>
            <a:r>
              <a:rPr/>
              <a:t>explore metadata</a:t>
            </a:r>
          </a:p>
          <a:p>
            <a:pPr lvl="0"/>
            <a:r>
              <a:rPr/>
              <a:t>table</a:t>
            </a:r>
          </a:p>
          <a:p>
            <a:pPr lvl="0"/>
            <a:r>
              <a:rPr/>
              <a:t>plot</a:t>
            </a:r>
          </a:p>
          <a:p>
            <a:pPr lvl="0"/>
            <a:r>
              <a:rPr/>
              <a:t>revisit: what questions can be asked/answered?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Finish activity: plotting metadata (1 pts)</a:t>
            </a:r>
          </a:p>
          <a:p>
            <a:pPr lvl="0" indent="-342900" marL="342900">
              <a:buAutoNum type="arabicPeriod"/>
            </a:pPr>
            <a:r>
              <a:rPr/>
              <a:t>Also in Colab, finish working with the metadata introduced in class.</a:t>
            </a:r>
          </a:p>
          <a:p>
            <a:pPr lvl="0" indent="-342900" marL="342900">
              <a:buAutoNum type="arabicPeriod"/>
            </a:pPr>
            <a:r>
              <a:rPr/>
              <a:t>Make at least 3 plots analyzing or summarizing columns.</a:t>
            </a:r>
          </a:p>
          <a:p>
            <a:pPr lvl="0" indent="-342900" marL="342900">
              <a:buAutoNum type="arabicPeriod"/>
            </a:pPr>
            <a:r>
              <a:rPr/>
              <a:t>Write down (in Markdown) a comparison you think would be interesting to make, why you think it would be interesting and what you hypothesize the result would look like.</a:t>
            </a:r>
          </a:p>
          <a:p>
            <a:pPr lvl="1"/>
            <a:r>
              <a:rPr/>
              <a:t>you don’t have to succeed in your comparison yet, if you’d need more tools/libraries/functions to do so</a:t>
            </a:r>
          </a:p>
          <a:p>
            <a:pPr lvl="1"/>
            <a:r>
              <a:rPr/>
              <a:t>it is more important that you have a reason for making the comparion and an estimate to which you could compare your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HW: rosalind problems</a:t>
            </a:r>
          </a:p>
          <a:p>
            <a:pPr lvl="0"/>
            <a:r>
              <a:rPr/>
              <a:t>more python review</a:t>
            </a:r>
          </a:p>
          <a:p>
            <a:pPr lvl="0"/>
            <a:r>
              <a:rPr/>
              <a:t>examples of sequences processing/alignment</a:t>
            </a:r>
          </a:p>
          <a:p>
            <a:pPr lvl="0"/>
            <a:r>
              <a:rPr/>
              <a:t>at scale, libraries/packages/programs used for these steps</a:t>
            </a:r>
          </a:p>
          <a:p>
            <a:pPr lvl="0"/>
            <a:r>
              <a:rPr/>
              <a:t>colab notebook review: practice sharing, commenting, discussing, updating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aching_template2" id="{CBC56AD8-951C-2944-A4E3-F767E8CAE259}" vid="{30215DE4-107A-5045-906F-05FEE4F28A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Avenir Book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 483 - Applied Biological Data Sciece W3D1</dc:title>
  <dc:creator/>
  <cp:keywords/>
  <dcterms:created xsi:type="dcterms:W3CDTF">2026-05-04T15:01:33Z</dcterms:created>
  <dcterms:modified xsi:type="dcterms:W3CDTF">2026-05-04T15:01:33Z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